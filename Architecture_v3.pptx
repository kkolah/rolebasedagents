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1089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1188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 —  Auth · Token Validation · Encrypted Transport · Rate Limiting · Zero Trust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329184"/>
            <a:ext cx="1188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Persona-Based Agentic System  ·  Architecture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9728" y="658368"/>
            <a:ext cx="2286000" cy="4535424"/>
          </a:xfrm>
          <a:prstGeom prst="rect">
            <a:avLst/>
          </a:prstGeom>
          <a:solidFill>
            <a:srgbClr val="111827">
              <a:alpha val="60000"/>
            </a:srgbClr>
          </a:solidFill>
          <a:ln w="12700">
            <a:solidFill>
              <a:srgbClr val="EC489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82880" y="676656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RBAC · GOVERNANCE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2103120" cy="713232"/>
          </a:xfrm>
          <a:prstGeom prst="rect">
            <a:avLst/>
          </a:prstGeom>
          <a:solidFill>
            <a:srgbClr val="1A2540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914400"/>
            <a:ext cx="210312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5216" y="10058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Engine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12618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→ UC mapping  ·  Skill access matrix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1719072"/>
            <a:ext cx="2103120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719072"/>
            <a:ext cx="21031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" y="18105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agent.yaml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5216" y="20665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Permissions · Max Exec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468880"/>
            <a:ext cx="2103120" cy="585216"/>
          </a:xfrm>
          <a:prstGeom prst="rect">
            <a:avLst/>
          </a:prstGeom>
          <a:solidFill>
            <a:srgbClr val="1A2540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468880"/>
            <a:ext cx="21031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5216" y="25603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Analyst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5216" y="281635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✓  ·  RRO ✓  ·  No approval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145536"/>
            <a:ext cx="2103120" cy="585216"/>
          </a:xfrm>
          <a:prstGeom prst="rect">
            <a:avLst/>
          </a:prstGeom>
          <a:solidFill>
            <a:srgbClr val="1A2540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3145536"/>
            <a:ext cx="210312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255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5216" y="323697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5216" y="349300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✓ (gate)  ·  RRO ✗ denied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822192"/>
            <a:ext cx="2103120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822192"/>
            <a:ext cx="21031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5216" y="39136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5216" y="416966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· Max Exec · Policy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0" y="1627632"/>
            <a:ext cx="438912" cy="0"/>
          </a:xfrm>
          <a:prstGeom prst="line">
            <a:avLst/>
          </a:prstGeom>
          <a:noFill/>
          <a:ln w="22860">
            <a:solidFill>
              <a:srgbClr val="EC4899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2286000" y="14447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86000" y="2048256"/>
            <a:ext cx="438912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2286000" y="18653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0" y="3401568"/>
            <a:ext cx="438912" cy="0"/>
          </a:xfrm>
          <a:prstGeom prst="line">
            <a:avLst/>
          </a:prstGeom>
          <a:noFill/>
          <a:ln w="22860">
            <a:solidFill>
              <a:srgbClr val="8B5CF6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2286000" y="32186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297680" y="658368"/>
            <a:ext cx="1828800" cy="457200"/>
          </a:xfrm>
          <a:prstGeom prst="rect">
            <a:avLst/>
          </a:prstGeom>
          <a:solidFill>
            <a:srgbClr val="1A2540"/>
          </a:solidFill>
          <a:ln w="177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15968" y="694944"/>
            <a:ext cx="347472" cy="347472"/>
          </a:xfrm>
          <a:prstGeom prst="ellipse">
            <a:avLst/>
          </a:prstGeom>
          <a:solidFill>
            <a:srgbClr val="FEF08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15968" y="694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00016" y="69494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Task Input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12080" y="1115568"/>
            <a:ext cx="0" cy="201168"/>
          </a:xfrm>
          <a:prstGeom prst="line">
            <a:avLst/>
          </a:prstGeom>
          <a:noFill/>
          <a:ln w="22860">
            <a:solidFill>
              <a:srgbClr val="E2E8F0"/>
            </a:solidFill>
            <a:prstDash val="solid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4389120" y="11704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task + role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670048" y="1316736"/>
            <a:ext cx="4334256" cy="1316736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24912" y="1371600"/>
            <a:ext cx="4224528" cy="1207008"/>
          </a:xfrm>
          <a:prstGeom prst="rect">
            <a:avLst/>
          </a:prstGeom>
          <a:solidFill>
            <a:srgbClr val="0F2557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203200" dist="50800" dir="16200000">
              <a:srgbClr val="3B82F6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24912" y="1371600"/>
            <a:ext cx="4224528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16352" y="1380744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834640" y="1865376"/>
            <a:ext cx="1298448" cy="640080"/>
          </a:xfrm>
          <a:prstGeom prst="rect">
            <a:avLst/>
          </a:prstGeom>
          <a:solidFill>
            <a:srgbClr val="0A1628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34640" y="1865376"/>
            <a:ext cx="1298448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89504" y="19385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Enforcement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889504" y="2176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persona + RBAC rules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224528" y="1865376"/>
            <a:ext cx="1298448" cy="640080"/>
          </a:xfrm>
          <a:prstGeom prst="rect">
            <a:avLst/>
          </a:prstGeom>
          <a:solidFill>
            <a:srgbClr val="0A1628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24528" y="1865376"/>
            <a:ext cx="129844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79392" y="19385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 Loop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79392" y="2176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tasks · resolves skill + tool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614416" y="1865376"/>
            <a:ext cx="1298448" cy="640080"/>
          </a:xfrm>
          <a:prstGeom prst="rect">
            <a:avLst/>
          </a:prstGeom>
          <a:solidFill>
            <a:srgbClr val="0A1628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14416" y="1865376"/>
            <a:ext cx="129844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19385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LLM Worker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69280" y="2176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 YAML · tools attached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837176" y="2578608"/>
            <a:ext cx="0" cy="256032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  <a:tailEnd type="arrow"/>
          </a:ln>
        </p:spPr>
      </p:sp>
      <p:sp>
        <p:nvSpPr>
          <p:cNvPr id="61" name="Text 59"/>
          <p:cNvSpPr/>
          <p:nvPr/>
        </p:nvSpPr>
        <p:spPr>
          <a:xfrm>
            <a:off x="4114800" y="2633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 ·  task loop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285232" y="2834640"/>
            <a:ext cx="0" cy="-256032"/>
          </a:xfrm>
          <a:prstGeom prst="line">
            <a:avLst/>
          </a:prstGeom>
          <a:noFill/>
          <a:ln w="19050">
            <a:solidFill>
              <a:srgbClr val="8B5CF6"/>
            </a:solidFill>
            <a:prstDash val="sysDash"/>
            <a:tailEnd type="arrow"/>
          </a:ln>
        </p:spPr>
      </p:sp>
      <p:sp>
        <p:nvSpPr>
          <p:cNvPr id="63" name="Text 61"/>
          <p:cNvSpPr/>
          <p:nvPr/>
        </p:nvSpPr>
        <p:spPr>
          <a:xfrm>
            <a:off x="5321808" y="2615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724912" y="3035808"/>
            <a:ext cx="2029968" cy="1938528"/>
          </a:xfrm>
          <a:prstGeom prst="rect">
            <a:avLst/>
          </a:prstGeom>
          <a:solidFill>
            <a:srgbClr val="1A254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724912" y="3035808"/>
            <a:ext cx="2029968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16352" y="303580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 ·  Event Driven Review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798064" y="3456432"/>
            <a:ext cx="1883664" cy="256032"/>
          </a:xfrm>
          <a:prstGeom prst="rect">
            <a:avLst/>
          </a:prstGeom>
          <a:solidFill>
            <a:srgbClr val="0F1C3F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16352" y="346557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T1–T2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218688" y="346557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edr-q1..q10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798064" y="3749040"/>
            <a:ext cx="1883664" cy="256032"/>
          </a:xfrm>
          <a:prstGeom prst="rect">
            <a:avLst/>
          </a:prstGeom>
          <a:solidFill>
            <a:srgbClr val="052E1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816352" y="375818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218688" y="375818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data-feature ★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798064" y="4041648"/>
            <a:ext cx="1883664" cy="256032"/>
          </a:xfrm>
          <a:prstGeom prst="rect">
            <a:avLst/>
          </a:prstGeom>
          <a:solidFill>
            <a:srgbClr val="052E1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16352" y="405079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3218688" y="405079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data-validator ★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798064" y="4334256"/>
            <a:ext cx="1883664" cy="256032"/>
          </a:xfrm>
          <a:prstGeom prst="rect">
            <a:avLst/>
          </a:prstGeom>
          <a:solidFill>
            <a:srgbClr val="0F1C3F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16352" y="434340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T5–T9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218688" y="434340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edr-q3..q10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798064" y="4626864"/>
            <a:ext cx="1883664" cy="256032"/>
          </a:xfrm>
          <a:prstGeom prst="rect">
            <a:avLst/>
          </a:prstGeom>
          <a:solidFill>
            <a:srgbClr val="052E1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816352" y="46360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218688" y="46360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worded-gen ★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901184" y="3035808"/>
            <a:ext cx="2029968" cy="1938528"/>
          </a:xfrm>
          <a:prstGeom prst="rect">
            <a:avLst/>
          </a:prstGeom>
          <a:solidFill>
            <a:srgbClr val="1A25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901184" y="3035808"/>
            <a:ext cx="2029968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92624" y="303580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 ·  Risk Review Output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974336" y="3456432"/>
            <a:ext cx="1883664" cy="256032"/>
          </a:xfrm>
          <a:prstGeom prst="rect">
            <a:avLst/>
          </a:prstGeom>
          <a:solidFill>
            <a:srgbClr val="130A2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92624" y="346557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T1–T2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5394960" y="346557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rro-q1..q10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974336" y="3749040"/>
            <a:ext cx="1883664" cy="256032"/>
          </a:xfrm>
          <a:prstGeom prst="rect">
            <a:avLst/>
          </a:prstGeom>
          <a:solidFill>
            <a:srgbClr val="052E1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92624" y="375818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394960" y="375818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data-feature ★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974336" y="4041648"/>
            <a:ext cx="1883664" cy="256032"/>
          </a:xfrm>
          <a:prstGeom prst="rect">
            <a:avLst/>
          </a:prstGeom>
          <a:solidFill>
            <a:srgbClr val="052E1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92624" y="405079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5394960" y="405079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data-validator ★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974336" y="4334256"/>
            <a:ext cx="1883664" cy="256032"/>
          </a:xfrm>
          <a:prstGeom prst="rect">
            <a:avLst/>
          </a:prstGeom>
          <a:solidFill>
            <a:srgbClr val="130A2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92624" y="434340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T5–T9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394960" y="434340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rro-q3..q10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974336" y="4626864"/>
            <a:ext cx="1883664" cy="256032"/>
          </a:xfrm>
          <a:prstGeom prst="rect">
            <a:avLst/>
          </a:prstGeom>
          <a:solidFill>
            <a:srgbClr val="052E1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92624" y="46360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5394960" y="46360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worded-gen ★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724912" y="5047488"/>
            <a:ext cx="4224528" cy="256032"/>
          </a:xfrm>
          <a:prstGeom prst="rect">
            <a:avLst/>
          </a:prstGeom>
          <a:solidFill>
            <a:srgbClr val="052E16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816352" y="504748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Shared:  data-feature  ·  data-validator  ·  worded-gen  —  defined ONCE in registry, used by ALL use cases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626864" y="5376672"/>
            <a:ext cx="804672" cy="402336"/>
          </a:xfrm>
          <a:prstGeom prst="rect">
            <a:avLst/>
          </a:prstGeom>
          <a:solidFill>
            <a:srgbClr val="1A2540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4626864" y="5376672"/>
            <a:ext cx="80467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626864" y="5376672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5029200" y="5303520"/>
            <a:ext cx="0" cy="329184"/>
          </a:xfrm>
          <a:prstGeom prst="line">
            <a:avLst/>
          </a:prstGeom>
          <a:noFill/>
          <a:ln w="17780">
            <a:solidFill>
              <a:srgbClr val="06B6D4"/>
            </a:solidFill>
            <a:prstDash val="sysDash"/>
            <a:tailEnd type="arrow"/>
          </a:ln>
        </p:spPr>
      </p:sp>
      <p:sp>
        <p:nvSpPr>
          <p:cNvPr id="106" name="Shape 104"/>
          <p:cNvSpPr/>
          <p:nvPr/>
        </p:nvSpPr>
        <p:spPr>
          <a:xfrm>
            <a:off x="7132320" y="658368"/>
            <a:ext cx="2889504" cy="4535424"/>
          </a:xfrm>
          <a:prstGeom prst="rect">
            <a:avLst/>
          </a:prstGeom>
          <a:solidFill>
            <a:srgbClr val="111827">
              <a:alpha val="60000"/>
            </a:srgbClr>
          </a:solidFill>
          <a:ln w="12700">
            <a:solidFill>
              <a:srgbClr val="0D9488"/>
            </a:solidFill>
            <a:prstDash val="dash"/>
          </a:ln>
        </p:spPr>
      </p:sp>
      <p:sp>
        <p:nvSpPr>
          <p:cNvPr id="107" name="Text 105"/>
          <p:cNvSpPr/>
          <p:nvPr/>
        </p:nvSpPr>
        <p:spPr>
          <a:xfrm>
            <a:off x="7223760" y="7132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REGISTRY  ·  iWolf FORMAT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7223760" y="932688"/>
            <a:ext cx="2706624" cy="274320"/>
          </a:xfrm>
          <a:prstGeom prst="rect">
            <a:avLst/>
          </a:prstGeom>
          <a:solidFill>
            <a:srgbClr val="0D9488">
              <a:alpha val="20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242048" y="93268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AgentSkill.io  ·  iWolf Standard  ·  Anthropic Format  ·  Google ADK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223760" y="1316736"/>
            <a:ext cx="2706624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7223760" y="1316736"/>
            <a:ext cx="270662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96912" y="1353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·  SKILL.MD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7296912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 ·  IO patterns  ·  Intent tags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7296912" y="1792224"/>
            <a:ext cx="822960" cy="146304"/>
          </a:xfrm>
          <a:prstGeom prst="roundRect">
            <a:avLst>
              <a:gd name="adj" fmla="val 3125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296912" y="17922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at init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7223760" y="2066544"/>
            <a:ext cx="2706624" cy="877824"/>
          </a:xfrm>
          <a:prstGeom prst="rect">
            <a:avLst/>
          </a:prstGeom>
          <a:solidFill>
            <a:srgbClr val="1A254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7223760" y="2066544"/>
            <a:ext cx="2706624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296912" y="2103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·  Full SKILL.MD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7296912" y="23408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edr-q1..q10  ·  rro-q1..q10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7296912" y="25237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data-feature ★  ·  data-validator ★  ·  worded-gen ★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296912" y="2724912"/>
            <a:ext cx="1188720" cy="146304"/>
          </a:xfrm>
          <a:prstGeom prst="roundRect">
            <a:avLst>
              <a:gd name="adj" fmla="val 31250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296912" y="27249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if intent matches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7223760" y="3054096"/>
            <a:ext cx="2706624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7223760" y="3054096"/>
            <a:ext cx="2706624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296912" y="30906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·  References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7296912" y="3328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specs  ·  Templates  ·  Scripts  ·  Test sets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7296912" y="3529584"/>
            <a:ext cx="731520" cy="146304"/>
          </a:xfrm>
          <a:prstGeom prst="roundRect">
            <a:avLst>
              <a:gd name="adj" fmla="val 31250"/>
            </a:avLst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296912" y="35295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7223760" y="3803904"/>
            <a:ext cx="2706624" cy="713232"/>
          </a:xfrm>
          <a:prstGeom prst="rect">
            <a:avLst/>
          </a:prstGeom>
          <a:solidFill>
            <a:srgbClr val="1A25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7223760" y="3803904"/>
            <a:ext cx="270662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296912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7296912" y="40965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·  API  ·  File  ·  Search  ·  Exec  ·  Report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6949440" y="1975104"/>
            <a:ext cx="182880" cy="0"/>
          </a:xfrm>
          <a:prstGeom prst="line">
            <a:avLst/>
          </a:prstGeom>
          <a:noFill/>
          <a:ln w="22860">
            <a:solidFill>
              <a:srgbClr val="0D9488"/>
            </a:solidFill>
            <a:prstDash val="solid"/>
            <a:tailEnd type="arrow"/>
          </a:ln>
        </p:spPr>
      </p:sp>
      <p:sp>
        <p:nvSpPr>
          <p:cNvPr id="134" name="Text 132"/>
          <p:cNvSpPr/>
          <p:nvPr/>
        </p:nvSpPr>
        <p:spPr>
          <a:xfrm>
            <a:off x="6949440" y="17922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L1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6949440" y="2249424"/>
            <a:ext cx="182880" cy="0"/>
          </a:xfrm>
          <a:prstGeom prst="line">
            <a:avLst/>
          </a:prstGeom>
          <a:noFill/>
          <a:ln w="17780">
            <a:solidFill>
              <a:srgbClr val="3B82F6"/>
            </a:solidFill>
            <a:prstDash val="sysDash"/>
            <a:tailEnd type="arrow"/>
          </a:ln>
        </p:spPr>
      </p:sp>
      <p:sp>
        <p:nvSpPr>
          <p:cNvPr id="136" name="Text 134"/>
          <p:cNvSpPr/>
          <p:nvPr/>
        </p:nvSpPr>
        <p:spPr>
          <a:xfrm>
            <a:off x="6949440" y="20665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L2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6949440" y="2432304"/>
            <a:ext cx="182880" cy="0"/>
          </a:xfrm>
          <a:prstGeom prst="line">
            <a:avLst/>
          </a:prstGeom>
          <a:noFill/>
          <a:ln w="17780">
            <a:solidFill>
              <a:srgbClr val="8B5CF6"/>
            </a:solidFill>
            <a:prstDash val="sysDash"/>
            <a:tailEnd type="arrow"/>
          </a:ln>
        </p:spPr>
      </p:sp>
      <p:sp>
        <p:nvSpPr>
          <p:cNvPr id="138" name="Text 136"/>
          <p:cNvSpPr/>
          <p:nvPr/>
        </p:nvSpPr>
        <p:spPr>
          <a:xfrm>
            <a:off x="6949440" y="22494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L3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6949440" y="3950208"/>
            <a:ext cx="18288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arrow"/>
          </a:ln>
        </p:spPr>
      </p:sp>
      <p:sp>
        <p:nvSpPr>
          <p:cNvPr id="140" name="Text 138"/>
          <p:cNvSpPr/>
          <p:nvPr/>
        </p:nvSpPr>
        <p:spPr>
          <a:xfrm>
            <a:off x="6949440" y="37673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tool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7132320" y="2176272"/>
            <a:ext cx="-182880" cy="0"/>
          </a:xfrm>
          <a:prstGeom prst="line">
            <a:avLst/>
          </a:prstGeom>
          <a:noFill/>
          <a:ln w="17780">
            <a:solidFill>
              <a:srgbClr val="0D9488"/>
            </a:solidFill>
            <a:prstDash val="sysDash"/>
            <a:tailEnd type="arrow"/>
          </a:ln>
        </p:spPr>
      </p:sp>
      <p:sp>
        <p:nvSpPr>
          <p:cNvPr id="142" name="Text 140"/>
          <p:cNvSpPr/>
          <p:nvPr/>
        </p:nvSpPr>
        <p:spPr>
          <a:xfrm>
            <a:off x="6967728" y="19933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→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0186416" y="658368"/>
            <a:ext cx="1828800" cy="4535424"/>
          </a:xfrm>
          <a:prstGeom prst="rect">
            <a:avLst/>
          </a:prstGeom>
          <a:solidFill>
            <a:srgbClr val="111827">
              <a:alpha val="60000"/>
            </a:srgbClr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44" name="Text 142"/>
          <p:cNvSpPr/>
          <p:nvPr/>
        </p:nvSpPr>
        <p:spPr>
          <a:xfrm>
            <a:off x="10277856" y="7132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O2I  ·  INSIGHTS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10277856" y="932688"/>
            <a:ext cx="1645920" cy="457200"/>
          </a:xfrm>
          <a:prstGeom prst="rect">
            <a:avLst/>
          </a:prstGeom>
          <a:solidFill>
            <a:srgbClr val="1A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6" name="Shape 144"/>
          <p:cNvSpPr/>
          <p:nvPr/>
        </p:nvSpPr>
        <p:spPr>
          <a:xfrm>
            <a:off x="10277856" y="932688"/>
            <a:ext cx="1645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277856" y="932688"/>
            <a:ext cx="1645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SKAN.AI Videos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11100816" y="1389888"/>
            <a:ext cx="0" cy="219456"/>
          </a:xfrm>
          <a:prstGeom prst="line">
            <a:avLst/>
          </a:prstGeom>
          <a:noFill/>
          <a:ln w="22860">
            <a:solidFill>
              <a:srgbClr val="0D9488"/>
            </a:solidFill>
            <a:prstDash val="solid"/>
            <a:tailEnd type="arrow"/>
          </a:ln>
        </p:spPr>
      </p:sp>
      <p:sp>
        <p:nvSpPr>
          <p:cNvPr id="149" name="Shape 147"/>
          <p:cNvSpPr/>
          <p:nvPr/>
        </p:nvSpPr>
        <p:spPr>
          <a:xfrm>
            <a:off x="10277856" y="1627632"/>
            <a:ext cx="1645920" cy="530352"/>
          </a:xfrm>
          <a:prstGeom prst="rect">
            <a:avLst/>
          </a:prstGeom>
          <a:solidFill>
            <a:srgbClr val="1A254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0" name="Shape 148"/>
          <p:cNvSpPr/>
          <p:nvPr/>
        </p:nvSpPr>
        <p:spPr>
          <a:xfrm>
            <a:off x="10277856" y="1627632"/>
            <a:ext cx="1645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0277856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Generator</a:t>
            </a:r>
            <a:endParaRPr lang="en-US" sz="950" dirty="0"/>
          </a:p>
        </p:txBody>
      </p:sp>
      <p:sp>
        <p:nvSpPr>
          <p:cNvPr id="152" name="Text 150"/>
          <p:cNvSpPr/>
          <p:nvPr/>
        </p:nvSpPr>
        <p:spPr>
          <a:xfrm>
            <a:off x="10277856" y="1847088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from patterns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11100816" y="2157984"/>
            <a:ext cx="0" cy="219456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  <a:tailEnd type="arrow"/>
          </a:ln>
        </p:spPr>
      </p:sp>
      <p:sp>
        <p:nvSpPr>
          <p:cNvPr id="154" name="Shape 152"/>
          <p:cNvSpPr/>
          <p:nvPr/>
        </p:nvSpPr>
        <p:spPr>
          <a:xfrm>
            <a:off x="10277856" y="2395728"/>
            <a:ext cx="1645920" cy="530352"/>
          </a:xfrm>
          <a:prstGeom prst="rect">
            <a:avLst/>
          </a:prstGeom>
          <a:solidFill>
            <a:srgbClr val="1A2540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5" name="Shape 153"/>
          <p:cNvSpPr/>
          <p:nvPr/>
        </p:nvSpPr>
        <p:spPr>
          <a:xfrm>
            <a:off x="10277856" y="2395728"/>
            <a:ext cx="16459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0277856" y="2395728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Skill Library</a:t>
            </a:r>
            <a:endParaRPr lang="en-US" sz="950" dirty="0"/>
          </a:p>
        </p:txBody>
      </p:sp>
      <p:sp>
        <p:nvSpPr>
          <p:cNvPr id="157" name="Text 155"/>
          <p:cNvSpPr/>
          <p:nvPr/>
        </p:nvSpPr>
        <p:spPr>
          <a:xfrm>
            <a:off x="10277856" y="2615184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 ·  Governed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11100816" y="2926080"/>
            <a:ext cx="0" cy="219456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  <a:tailEnd type="arrow"/>
          </a:ln>
        </p:spPr>
      </p:sp>
      <p:sp>
        <p:nvSpPr>
          <p:cNvPr id="159" name="Shape 157"/>
          <p:cNvSpPr/>
          <p:nvPr/>
        </p:nvSpPr>
        <p:spPr>
          <a:xfrm>
            <a:off x="10277856" y="3163824"/>
            <a:ext cx="1645920" cy="822960"/>
          </a:xfrm>
          <a:prstGeom prst="rect">
            <a:avLst/>
          </a:prstGeom>
          <a:solidFill>
            <a:srgbClr val="1A25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0" name="Shape 158"/>
          <p:cNvSpPr/>
          <p:nvPr/>
        </p:nvSpPr>
        <p:spPr>
          <a:xfrm>
            <a:off x="10277856" y="3163824"/>
            <a:ext cx="1645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0277856" y="3163824"/>
            <a:ext cx="16459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Analytics</a:t>
            </a:r>
            <a:endParaRPr lang="en-US" sz="950" dirty="0"/>
          </a:p>
        </p:txBody>
      </p:sp>
      <p:sp>
        <p:nvSpPr>
          <p:cNvPr id="162" name="Text 160"/>
          <p:cNvSpPr/>
          <p:nvPr/>
        </p:nvSpPr>
        <p:spPr>
          <a:xfrm>
            <a:off x="10314432" y="3438144"/>
            <a:ext cx="1591056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· Performance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telemetry · Cost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10021824" y="1975104"/>
            <a:ext cx="164592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arrow"/>
          </a:ln>
        </p:spPr>
      </p:sp>
      <p:sp>
        <p:nvSpPr>
          <p:cNvPr id="164" name="Text 162"/>
          <p:cNvSpPr/>
          <p:nvPr/>
        </p:nvSpPr>
        <p:spPr>
          <a:xfrm>
            <a:off x="10021824" y="17922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10277856" y="2660904"/>
            <a:ext cx="-347472" cy="0"/>
          </a:xfrm>
          <a:prstGeom prst="line">
            <a:avLst/>
          </a:prstGeom>
          <a:noFill/>
          <a:ln w="17780">
            <a:solidFill>
              <a:srgbClr val="06B6D4"/>
            </a:solidFill>
            <a:prstDash val="sysDash"/>
            <a:tailEnd type="arrow"/>
          </a:ln>
        </p:spPr>
      </p:sp>
      <p:sp>
        <p:nvSpPr>
          <p:cNvPr id="166" name="Text 164"/>
          <p:cNvSpPr/>
          <p:nvPr/>
        </p:nvSpPr>
        <p:spPr>
          <a:xfrm>
            <a:off x="10040112" y="24871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0" y="5266944"/>
            <a:ext cx="12161520" cy="932688"/>
          </a:xfrm>
          <a:prstGeom prst="rect">
            <a:avLst/>
          </a:prstGeom>
          <a:solidFill>
            <a:srgbClr val="150508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0" y="5266944"/>
            <a:ext cx="1371600" cy="9326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6576" y="5266944"/>
            <a:ext cx="12984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</a:t>
            </a:r>
            <a:endParaRPr lang="en-US" sz="1300" dirty="0"/>
          </a:p>
        </p:txBody>
      </p:sp>
      <p:sp>
        <p:nvSpPr>
          <p:cNvPr id="170" name="Shape 168"/>
          <p:cNvSpPr/>
          <p:nvPr/>
        </p:nvSpPr>
        <p:spPr>
          <a:xfrm>
            <a:off x="1243584" y="5065776"/>
            <a:ext cx="0" cy="182880"/>
          </a:xfrm>
          <a:prstGeom prst="line">
            <a:avLst/>
          </a:prstGeom>
          <a:noFill/>
          <a:ln w="15240">
            <a:solidFill>
              <a:srgbClr val="F43F5E"/>
            </a:solidFill>
            <a:prstDash val="sysDash"/>
            <a:tailEnd type="arrow"/>
          </a:ln>
        </p:spPr>
      </p:sp>
      <p:sp>
        <p:nvSpPr>
          <p:cNvPr id="171" name="Shape 169"/>
          <p:cNvSpPr/>
          <p:nvPr/>
        </p:nvSpPr>
        <p:spPr>
          <a:xfrm>
            <a:off x="3858768" y="5065776"/>
            <a:ext cx="0" cy="182880"/>
          </a:xfrm>
          <a:prstGeom prst="line">
            <a:avLst/>
          </a:prstGeom>
          <a:noFill/>
          <a:ln w="15240">
            <a:solidFill>
              <a:srgbClr val="F43F5E"/>
            </a:solidFill>
            <a:prstDash val="sysDash"/>
            <a:tailEnd type="arrow"/>
          </a:ln>
        </p:spPr>
      </p:sp>
      <p:sp>
        <p:nvSpPr>
          <p:cNvPr id="172" name="Shape 170"/>
          <p:cNvSpPr/>
          <p:nvPr/>
        </p:nvSpPr>
        <p:spPr>
          <a:xfrm>
            <a:off x="5541264" y="5065776"/>
            <a:ext cx="0" cy="182880"/>
          </a:xfrm>
          <a:prstGeom prst="line">
            <a:avLst/>
          </a:prstGeom>
          <a:noFill/>
          <a:ln w="15240">
            <a:solidFill>
              <a:srgbClr val="F43F5E"/>
            </a:solidFill>
            <a:prstDash val="sysDash"/>
            <a:tailEnd type="arrow"/>
          </a:ln>
        </p:spPr>
      </p:sp>
      <p:sp>
        <p:nvSpPr>
          <p:cNvPr id="173" name="Shape 171"/>
          <p:cNvSpPr/>
          <p:nvPr/>
        </p:nvSpPr>
        <p:spPr>
          <a:xfrm>
            <a:off x="8577072" y="5065776"/>
            <a:ext cx="0" cy="182880"/>
          </a:xfrm>
          <a:prstGeom prst="line">
            <a:avLst/>
          </a:prstGeom>
          <a:noFill/>
          <a:ln w="15240">
            <a:solidFill>
              <a:srgbClr val="F43F5E"/>
            </a:solidFill>
            <a:prstDash val="sysDash"/>
            <a:tailEnd type="arrow"/>
          </a:ln>
        </p:spPr>
      </p:sp>
      <p:sp>
        <p:nvSpPr>
          <p:cNvPr id="174" name="Shape 172"/>
          <p:cNvSpPr/>
          <p:nvPr/>
        </p:nvSpPr>
        <p:spPr>
          <a:xfrm>
            <a:off x="11100816" y="5065776"/>
            <a:ext cx="0" cy="182880"/>
          </a:xfrm>
          <a:prstGeom prst="line">
            <a:avLst/>
          </a:prstGeom>
          <a:noFill/>
          <a:ln w="15240">
            <a:solidFill>
              <a:srgbClr val="F43F5E"/>
            </a:solidFill>
            <a:prstDash val="sysDash"/>
            <a:tailEnd type="arrow"/>
          </a:ln>
        </p:spPr>
      </p:sp>
      <p:sp>
        <p:nvSpPr>
          <p:cNvPr id="175" name="Shape 173"/>
          <p:cNvSpPr/>
          <p:nvPr/>
        </p:nvSpPr>
        <p:spPr>
          <a:xfrm>
            <a:off x="1481328" y="5358384"/>
            <a:ext cx="1956816" cy="731520"/>
          </a:xfrm>
          <a:prstGeom prst="rect">
            <a:avLst/>
          </a:prstGeom>
          <a:solidFill>
            <a:srgbClr val="220A0D"/>
          </a:solidFill>
          <a:ln w="10160">
            <a:solidFill>
              <a:srgbClr val="7F1D1D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572768" y="537667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Execution Log</a:t>
            </a:r>
            <a:endParaRPr lang="en-US" sz="900" dirty="0"/>
          </a:p>
        </p:txBody>
      </p:sp>
      <p:sp>
        <p:nvSpPr>
          <p:cNvPr id="177" name="Text 175"/>
          <p:cNvSpPr/>
          <p:nvPr/>
        </p:nvSpPr>
        <p:spPr>
          <a:xfrm>
            <a:off x="1572768" y="566928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What · When · Result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3566160" y="5358384"/>
            <a:ext cx="1956816" cy="731520"/>
          </a:xfrm>
          <a:prstGeom prst="rect">
            <a:avLst/>
          </a:prstGeom>
          <a:solidFill>
            <a:srgbClr val="220A0D"/>
          </a:solidFill>
          <a:ln w="10160">
            <a:solidFill>
              <a:srgbClr val="7F1D1D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3657600" y="537667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 &amp; Access Log</a:t>
            </a:r>
            <a:endParaRPr lang="en-US" sz="900" dirty="0"/>
          </a:p>
        </p:txBody>
      </p:sp>
      <p:sp>
        <p:nvSpPr>
          <p:cNvPr id="180" name="Text 178"/>
          <p:cNvSpPr/>
          <p:nvPr/>
        </p:nvSpPr>
        <p:spPr>
          <a:xfrm>
            <a:off x="3657600" y="566928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Token · Role checks</a:t>
            </a:r>
            <a:endParaRPr lang="en-US" sz="850" dirty="0"/>
          </a:p>
        </p:txBody>
      </p:sp>
      <p:sp>
        <p:nvSpPr>
          <p:cNvPr id="181" name="Shape 179"/>
          <p:cNvSpPr/>
          <p:nvPr/>
        </p:nvSpPr>
        <p:spPr>
          <a:xfrm>
            <a:off x="5650992" y="5358384"/>
            <a:ext cx="1956816" cy="731520"/>
          </a:xfrm>
          <a:prstGeom prst="rect">
            <a:avLst/>
          </a:prstGeom>
          <a:solidFill>
            <a:srgbClr val="220A0D"/>
          </a:solidFill>
          <a:ln w="10160">
            <a:solidFill>
              <a:srgbClr val="7F1D1D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742432" y="537667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Approval Records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5742432" y="566928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decisions · Approver</a:t>
            </a:r>
            <a:endParaRPr 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7735824" y="5358384"/>
            <a:ext cx="1956816" cy="731520"/>
          </a:xfrm>
          <a:prstGeom prst="rect">
            <a:avLst/>
          </a:prstGeom>
          <a:solidFill>
            <a:srgbClr val="220A0D"/>
          </a:solidFill>
          <a:ln w="10160">
            <a:solidFill>
              <a:srgbClr val="7F1D1D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827264" y="537667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Skill Usage Log</a:t>
            </a:r>
            <a:endParaRPr lang="en-US" sz="900" dirty="0"/>
          </a:p>
        </p:txBody>
      </p:sp>
      <p:sp>
        <p:nvSpPr>
          <p:cNvPr id="186" name="Text 184"/>
          <p:cNvSpPr/>
          <p:nvPr/>
        </p:nvSpPr>
        <p:spPr>
          <a:xfrm>
            <a:off x="7827264" y="566928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L1/L2/L3 · Tool calls · Latency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9820656" y="5358384"/>
            <a:ext cx="1956816" cy="731520"/>
          </a:xfrm>
          <a:prstGeom prst="rect">
            <a:avLst/>
          </a:prstGeom>
          <a:solidFill>
            <a:srgbClr val="220A0D"/>
          </a:solidFill>
          <a:ln w="10160">
            <a:solidFill>
              <a:srgbClr val="7F1D1D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9912096" y="537667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Anomaly &amp; Alerts</a:t>
            </a:r>
            <a:endParaRPr lang="en-US" sz="900" dirty="0"/>
          </a:p>
        </p:txBody>
      </p:sp>
      <p:sp>
        <p:nvSpPr>
          <p:cNvPr id="189" name="Text 187"/>
          <p:cNvSpPr/>
          <p:nvPr/>
        </p:nvSpPr>
        <p:spPr>
          <a:xfrm>
            <a:off x="9912096" y="566928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access · Limit breaches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0" y="6236208"/>
            <a:ext cx="12161520" cy="621792"/>
          </a:xfrm>
          <a:prstGeom prst="rect">
            <a:avLst/>
          </a:prstGeom>
          <a:solidFill>
            <a:srgbClr val="08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4320" y="6364224"/>
            <a:ext cx="256032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85216" y="6327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1956816" y="6364224"/>
            <a:ext cx="25603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2267712" y="6327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skill</a:t>
            </a:r>
            <a:endParaRPr lang="en-US" sz="800" dirty="0"/>
          </a:p>
        </p:txBody>
      </p:sp>
      <p:sp>
        <p:nvSpPr>
          <p:cNvPr id="195" name="Shape 193"/>
          <p:cNvSpPr/>
          <p:nvPr/>
        </p:nvSpPr>
        <p:spPr>
          <a:xfrm>
            <a:off x="3639312" y="6364224"/>
            <a:ext cx="25603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3950208" y="6327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process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>
            <a:off x="5321808" y="6364224"/>
            <a:ext cx="256032" cy="91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632704" y="6327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audit</a:t>
            </a:r>
            <a:endParaRPr lang="en-US" sz="800" dirty="0"/>
          </a:p>
        </p:txBody>
      </p:sp>
      <p:sp>
        <p:nvSpPr>
          <p:cNvPr id="199" name="Shape 197"/>
          <p:cNvSpPr/>
          <p:nvPr/>
        </p:nvSpPr>
        <p:spPr>
          <a:xfrm>
            <a:off x="7004304" y="6364224"/>
            <a:ext cx="256032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7315200" y="6327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8686800" y="6364224"/>
            <a:ext cx="256032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8997696" y="6327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shared skill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10369296" y="6364224"/>
            <a:ext cx="256032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10680192" y="6327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persona</a:t>
            </a:r>
            <a:endParaRPr lang="en-US" sz="800" dirty="0"/>
          </a:p>
        </p:txBody>
      </p:sp>
      <p:sp>
        <p:nvSpPr>
          <p:cNvPr id="205" name="Text 203"/>
          <p:cNvSpPr/>
          <p:nvPr/>
        </p:nvSpPr>
        <p:spPr>
          <a:xfrm>
            <a:off x="8961120" y="63276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iWolf  ·  Anthropic Agent Format  ·  Google ADK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2026-05-12T14:20:52Z</dcterms:created>
  <dcterms:modified xsi:type="dcterms:W3CDTF">2026-05-12T14:20:52Z</dcterms:modified>
</cp:coreProperties>
</file>